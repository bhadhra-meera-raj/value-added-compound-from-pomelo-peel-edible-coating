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21396325" cy="30267275"/>
  <p:notesSz cx="6797675" cy="9928225"/>
  <p:defaultTextStyle>
    <a:defPPr>
      <a:defRPr lang="en-US"/>
    </a:defPPr>
    <a:lvl1pPr algn="l" defTabSz="2951480" rtl="0" fontAlgn="base">
      <a:spcBef>
        <a:spcPct val="0"/>
      </a:spcBef>
      <a:spcAft>
        <a:spcPct val="0"/>
      </a:spcAft>
      <a:defRPr sz="5810"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1pPr>
    <a:lvl2pPr marL="1475740" indent="-1148080" algn="l" defTabSz="2951480" rtl="0" fontAlgn="base">
      <a:spcBef>
        <a:spcPct val="0"/>
      </a:spcBef>
      <a:spcAft>
        <a:spcPct val="0"/>
      </a:spcAft>
      <a:defRPr sz="5810"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2pPr>
    <a:lvl3pPr marL="2951480" indent="-2295525" algn="l" defTabSz="2951480" rtl="0" fontAlgn="base">
      <a:spcBef>
        <a:spcPct val="0"/>
      </a:spcBef>
      <a:spcAft>
        <a:spcPct val="0"/>
      </a:spcAft>
      <a:defRPr sz="5810"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3pPr>
    <a:lvl4pPr marL="4427855" indent="-3443605" algn="l" defTabSz="2951480" rtl="0" fontAlgn="base">
      <a:spcBef>
        <a:spcPct val="0"/>
      </a:spcBef>
      <a:spcAft>
        <a:spcPct val="0"/>
      </a:spcAft>
      <a:defRPr sz="5810"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4pPr>
    <a:lvl5pPr marL="5903595" indent="-4591685" algn="l" defTabSz="2951480" rtl="0" fontAlgn="base">
      <a:spcBef>
        <a:spcPct val="0"/>
      </a:spcBef>
      <a:spcAft>
        <a:spcPct val="0"/>
      </a:spcAft>
      <a:defRPr sz="5810"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5pPr>
    <a:lvl6pPr marL="1639570" algn="l" defTabSz="655955" rtl="0" eaLnBrk="1" latinLnBrk="0" hangingPunct="1">
      <a:defRPr sz="5810"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6pPr>
    <a:lvl7pPr marL="1967865" algn="l" defTabSz="655955" rtl="0" eaLnBrk="1" latinLnBrk="0" hangingPunct="1">
      <a:defRPr sz="5810"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7pPr>
    <a:lvl8pPr marL="2295525" algn="l" defTabSz="655955" rtl="0" eaLnBrk="1" latinLnBrk="0" hangingPunct="1">
      <a:defRPr sz="5810"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8pPr>
    <a:lvl9pPr marL="2623820" algn="l" defTabSz="655955" rtl="0" eaLnBrk="1" latinLnBrk="0" hangingPunct="1">
      <a:defRPr sz="5810"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533" userDrawn="1">
          <p15:clr>
            <a:srgbClr val="A4A3A4"/>
          </p15:clr>
        </p15:guide>
        <p15:guide id="2" pos="67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68" autoAdjust="0"/>
    <p:restoredTop sz="93190" autoAdjust="0"/>
  </p:normalViewPr>
  <p:slideViewPr>
    <p:cSldViewPr showGuides="1">
      <p:cViewPr>
        <p:scale>
          <a:sx n="25" d="100"/>
          <a:sy n="25" d="100"/>
        </p:scale>
        <p:origin x="860" y="-1604"/>
      </p:cViewPr>
      <p:guideLst>
        <p:guide orient="horz" pos="9533"/>
        <p:guide pos="67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5569C-91FA-4A14-81B3-23E96D6C2E7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14563" y="1241425"/>
            <a:ext cx="23685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3651D-1222-4508-ADBC-AA64FC690F5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14563" y="1241425"/>
            <a:ext cx="23685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3651D-1222-4508-ADBC-AA64FC690F5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25" y="9402476"/>
            <a:ext cx="18186876" cy="64878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9450" y="17151455"/>
            <a:ext cx="14977428" cy="773497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64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28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593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575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321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186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050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915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9C6573-4840-4282-802D-1B2972D7901F}" type="datetimeFigureOut">
              <a:rPr lang="en-IN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A3FDCE-BAEE-46CB-B712-24604894B8BB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375C1-E17E-4D54-B94C-A5C2A9CEC715}" type="datetimeFigureOut">
              <a:rPr lang="en-IN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8E236-9B65-49CC-BCAA-8BE8E098D9EA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162" y="19449530"/>
            <a:ext cx="18186876" cy="6011417"/>
          </a:xfrm>
        </p:spPr>
        <p:txBody>
          <a:bodyPr anchor="t"/>
          <a:lstStyle>
            <a:lvl1pPr algn="l">
              <a:defRPr sz="756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162" y="12828565"/>
            <a:ext cx="18186876" cy="6620965"/>
          </a:xfrm>
        </p:spPr>
        <p:txBody>
          <a:bodyPr anchor="b"/>
          <a:lstStyle>
            <a:lvl1pPr marL="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1pPr>
            <a:lvl2pPr marL="864235" indent="0">
              <a:buNone/>
              <a:defRPr sz="3405">
                <a:solidFill>
                  <a:schemeClr val="tx1">
                    <a:tint val="75000"/>
                  </a:schemeClr>
                </a:solidFill>
              </a:defRPr>
            </a:lvl2pPr>
            <a:lvl3pPr marL="1728470" indent="0">
              <a:buNone/>
              <a:defRPr sz="3025">
                <a:solidFill>
                  <a:schemeClr val="tx1">
                    <a:tint val="75000"/>
                  </a:schemeClr>
                </a:solidFill>
              </a:defRPr>
            </a:lvl3pPr>
            <a:lvl4pPr marL="2593340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4pPr>
            <a:lvl5pPr marL="3457575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5pPr>
            <a:lvl6pPr marL="4321810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6pPr>
            <a:lvl7pPr marL="5186045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7pPr>
            <a:lvl8pPr marL="6050280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8pPr>
            <a:lvl9pPr marL="6915150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171C6E-ABBC-455D-85DF-BC194BD01B9C}" type="datetimeFigureOut">
              <a:rPr lang="en-IN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BED89A-6DBA-4526-8EDC-5001D1E4C76B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17" y="7062367"/>
            <a:ext cx="9450044" cy="19975003"/>
          </a:xfrm>
        </p:spPr>
        <p:txBody>
          <a:bodyPr/>
          <a:lstStyle>
            <a:lvl1pPr>
              <a:defRPr sz="5295"/>
            </a:lvl1pPr>
            <a:lvl2pPr>
              <a:defRPr sz="4535"/>
            </a:lvl2pPr>
            <a:lvl3pPr>
              <a:defRPr sz="3780"/>
            </a:lvl3pPr>
            <a:lvl4pPr>
              <a:defRPr sz="3405"/>
            </a:lvl4pPr>
            <a:lvl5pPr>
              <a:defRPr sz="3405"/>
            </a:lvl5pPr>
            <a:lvl6pPr>
              <a:defRPr sz="3405"/>
            </a:lvl6pPr>
            <a:lvl7pPr>
              <a:defRPr sz="3405"/>
            </a:lvl7pPr>
            <a:lvl8pPr>
              <a:defRPr sz="3405"/>
            </a:lvl8pPr>
            <a:lvl9pPr>
              <a:defRPr sz="340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76465" y="7062367"/>
            <a:ext cx="9450044" cy="19975003"/>
          </a:xfrm>
        </p:spPr>
        <p:txBody>
          <a:bodyPr/>
          <a:lstStyle>
            <a:lvl1pPr>
              <a:defRPr sz="5295"/>
            </a:lvl1pPr>
            <a:lvl2pPr>
              <a:defRPr sz="4535"/>
            </a:lvl2pPr>
            <a:lvl3pPr>
              <a:defRPr sz="3780"/>
            </a:lvl3pPr>
            <a:lvl4pPr>
              <a:defRPr sz="3405"/>
            </a:lvl4pPr>
            <a:lvl5pPr>
              <a:defRPr sz="3405"/>
            </a:lvl5pPr>
            <a:lvl6pPr>
              <a:defRPr sz="3405"/>
            </a:lvl6pPr>
            <a:lvl7pPr>
              <a:defRPr sz="3405"/>
            </a:lvl7pPr>
            <a:lvl8pPr>
              <a:defRPr sz="3405"/>
            </a:lvl8pPr>
            <a:lvl9pPr>
              <a:defRPr sz="340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35037B-A767-4BA0-B515-C62BB18F8316}" type="datetimeFigureOut">
              <a:rPr lang="en-IN"/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B6FD7-E2D5-4233-9538-79F352F3203F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17" y="6775110"/>
            <a:ext cx="9453759" cy="2823542"/>
          </a:xfrm>
        </p:spPr>
        <p:txBody>
          <a:bodyPr anchor="b"/>
          <a:lstStyle>
            <a:lvl1pPr marL="0" indent="0">
              <a:buNone/>
              <a:defRPr sz="4535" b="1"/>
            </a:lvl1pPr>
            <a:lvl2pPr marL="864235" indent="0">
              <a:buNone/>
              <a:defRPr sz="3780" b="1"/>
            </a:lvl2pPr>
            <a:lvl3pPr marL="1728470" indent="0">
              <a:buNone/>
              <a:defRPr sz="3405" b="1"/>
            </a:lvl3pPr>
            <a:lvl4pPr marL="2593340" indent="0">
              <a:buNone/>
              <a:defRPr sz="3025" b="1"/>
            </a:lvl4pPr>
            <a:lvl5pPr marL="3457575" indent="0">
              <a:buNone/>
              <a:defRPr sz="3025" b="1"/>
            </a:lvl5pPr>
            <a:lvl6pPr marL="4321810" indent="0">
              <a:buNone/>
              <a:defRPr sz="3025" b="1"/>
            </a:lvl6pPr>
            <a:lvl7pPr marL="5186045" indent="0">
              <a:buNone/>
              <a:defRPr sz="3025" b="1"/>
            </a:lvl7pPr>
            <a:lvl8pPr marL="6050280" indent="0">
              <a:buNone/>
              <a:defRPr sz="3025" b="1"/>
            </a:lvl8pPr>
            <a:lvl9pPr marL="6915150" indent="0">
              <a:buNone/>
              <a:defRPr sz="302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17" y="9598651"/>
            <a:ext cx="9453759" cy="17438717"/>
          </a:xfrm>
        </p:spPr>
        <p:txBody>
          <a:bodyPr/>
          <a:lstStyle>
            <a:lvl1pPr>
              <a:defRPr sz="4535"/>
            </a:lvl1pPr>
            <a:lvl2pPr>
              <a:defRPr sz="3780"/>
            </a:lvl2pPr>
            <a:lvl3pPr>
              <a:defRPr sz="3405"/>
            </a:lvl3pPr>
            <a:lvl4pPr>
              <a:defRPr sz="3025"/>
            </a:lvl4pPr>
            <a:lvl5pPr>
              <a:defRPr sz="3025"/>
            </a:lvl5pPr>
            <a:lvl6pPr>
              <a:defRPr sz="3025"/>
            </a:lvl6pPr>
            <a:lvl7pPr>
              <a:defRPr sz="3025"/>
            </a:lvl7pPr>
            <a:lvl8pPr>
              <a:defRPr sz="3025"/>
            </a:lvl8pPr>
            <a:lvl9pPr>
              <a:defRPr sz="30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9038" y="6775110"/>
            <a:ext cx="9457473" cy="2823542"/>
          </a:xfrm>
        </p:spPr>
        <p:txBody>
          <a:bodyPr anchor="b"/>
          <a:lstStyle>
            <a:lvl1pPr marL="0" indent="0">
              <a:buNone/>
              <a:defRPr sz="4535" b="1"/>
            </a:lvl1pPr>
            <a:lvl2pPr marL="864235" indent="0">
              <a:buNone/>
              <a:defRPr sz="3780" b="1"/>
            </a:lvl2pPr>
            <a:lvl3pPr marL="1728470" indent="0">
              <a:buNone/>
              <a:defRPr sz="3405" b="1"/>
            </a:lvl3pPr>
            <a:lvl4pPr marL="2593340" indent="0">
              <a:buNone/>
              <a:defRPr sz="3025" b="1"/>
            </a:lvl4pPr>
            <a:lvl5pPr marL="3457575" indent="0">
              <a:buNone/>
              <a:defRPr sz="3025" b="1"/>
            </a:lvl5pPr>
            <a:lvl6pPr marL="4321810" indent="0">
              <a:buNone/>
              <a:defRPr sz="3025" b="1"/>
            </a:lvl6pPr>
            <a:lvl7pPr marL="5186045" indent="0">
              <a:buNone/>
              <a:defRPr sz="3025" b="1"/>
            </a:lvl7pPr>
            <a:lvl8pPr marL="6050280" indent="0">
              <a:buNone/>
              <a:defRPr sz="3025" b="1"/>
            </a:lvl8pPr>
            <a:lvl9pPr marL="6915150" indent="0">
              <a:buNone/>
              <a:defRPr sz="302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9038" y="9598651"/>
            <a:ext cx="9457473" cy="17438717"/>
          </a:xfrm>
        </p:spPr>
        <p:txBody>
          <a:bodyPr/>
          <a:lstStyle>
            <a:lvl1pPr>
              <a:defRPr sz="4535"/>
            </a:lvl1pPr>
            <a:lvl2pPr>
              <a:defRPr sz="3780"/>
            </a:lvl2pPr>
            <a:lvl3pPr>
              <a:defRPr sz="3405"/>
            </a:lvl3pPr>
            <a:lvl4pPr>
              <a:defRPr sz="3025"/>
            </a:lvl4pPr>
            <a:lvl5pPr>
              <a:defRPr sz="3025"/>
            </a:lvl5pPr>
            <a:lvl6pPr>
              <a:defRPr sz="3025"/>
            </a:lvl6pPr>
            <a:lvl7pPr>
              <a:defRPr sz="3025"/>
            </a:lvl7pPr>
            <a:lvl8pPr>
              <a:defRPr sz="3025"/>
            </a:lvl8pPr>
            <a:lvl9pPr>
              <a:defRPr sz="30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F373C9-9A51-4F9C-852B-9414C317EEB8}" type="datetimeFigureOut">
              <a:rPr lang="en-IN"/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BA958A-ABFF-4804-8FE9-73925554DE3E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16FDA-3F6A-44C0-838C-D35BDEF46B5F}" type="datetimeFigureOut">
              <a:rPr lang="en-IN"/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124A80-DED2-4FAD-9B94-405355F9CF42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45ACF-9BC4-4189-900B-AACCDE16E2EA}" type="datetimeFigureOut">
              <a:rPr lang="en-IN"/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AA1AB3-00F9-4E06-9FE1-665E6A6281A8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19" y="1205087"/>
            <a:ext cx="7039244" cy="5128622"/>
          </a:xfrm>
        </p:spPr>
        <p:txBody>
          <a:bodyPr anchor="b"/>
          <a:lstStyle>
            <a:lvl1pPr algn="l">
              <a:defRPr sz="378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5369" y="1205089"/>
            <a:ext cx="11961140" cy="25832280"/>
          </a:xfrm>
        </p:spPr>
        <p:txBody>
          <a:bodyPr/>
          <a:lstStyle>
            <a:lvl1pPr>
              <a:defRPr sz="6050"/>
            </a:lvl1pPr>
            <a:lvl2pPr>
              <a:defRPr sz="5295"/>
            </a:lvl2pPr>
            <a:lvl3pPr>
              <a:defRPr sz="4535"/>
            </a:lvl3pPr>
            <a:lvl4pPr>
              <a:defRPr sz="3780"/>
            </a:lvl4pPr>
            <a:lvl5pPr>
              <a:defRPr sz="3780"/>
            </a:lvl5pPr>
            <a:lvl6pPr>
              <a:defRPr sz="3780"/>
            </a:lvl6pPr>
            <a:lvl7pPr>
              <a:defRPr sz="3780"/>
            </a:lvl7pPr>
            <a:lvl8pPr>
              <a:defRPr sz="3780"/>
            </a:lvl8pPr>
            <a:lvl9pPr>
              <a:defRPr sz="378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819" y="6333713"/>
            <a:ext cx="7039244" cy="20703659"/>
          </a:xfrm>
        </p:spPr>
        <p:txBody>
          <a:bodyPr/>
          <a:lstStyle>
            <a:lvl1pPr marL="0" indent="0">
              <a:buNone/>
              <a:defRPr sz="2645"/>
            </a:lvl1pPr>
            <a:lvl2pPr marL="864235" indent="0">
              <a:buNone/>
              <a:defRPr sz="2270"/>
            </a:lvl2pPr>
            <a:lvl3pPr marL="1728470" indent="0">
              <a:buNone/>
              <a:defRPr sz="1890"/>
            </a:lvl3pPr>
            <a:lvl4pPr marL="2593340" indent="0">
              <a:buNone/>
              <a:defRPr sz="1725"/>
            </a:lvl4pPr>
            <a:lvl5pPr marL="3457575" indent="0">
              <a:buNone/>
              <a:defRPr sz="1725"/>
            </a:lvl5pPr>
            <a:lvl6pPr marL="4321810" indent="0">
              <a:buNone/>
              <a:defRPr sz="1725"/>
            </a:lvl6pPr>
            <a:lvl7pPr marL="5186045" indent="0">
              <a:buNone/>
              <a:defRPr sz="1725"/>
            </a:lvl7pPr>
            <a:lvl8pPr marL="6050280" indent="0">
              <a:buNone/>
              <a:defRPr sz="1725"/>
            </a:lvl8pPr>
            <a:lvl9pPr marL="6915150" indent="0">
              <a:buNone/>
              <a:defRPr sz="17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EDAA4-D118-401D-9EE1-CC8ECF9CE862}" type="datetimeFigureOut">
              <a:rPr lang="en-IN"/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D23B4-97A8-415D-8D46-D1BB270B083A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3830" y="21187095"/>
            <a:ext cx="12837795" cy="2501256"/>
          </a:xfrm>
        </p:spPr>
        <p:txBody>
          <a:bodyPr anchor="b"/>
          <a:lstStyle>
            <a:lvl1pPr algn="l">
              <a:defRPr sz="378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3830" y="2704437"/>
            <a:ext cx="12837795" cy="18160365"/>
          </a:xfrm>
        </p:spPr>
        <p:txBody>
          <a:bodyPr rtlCol="0">
            <a:normAutofit/>
          </a:bodyPr>
          <a:lstStyle>
            <a:lvl1pPr marL="0" indent="0">
              <a:buNone/>
              <a:defRPr sz="6050"/>
            </a:lvl1pPr>
            <a:lvl2pPr marL="864235" indent="0">
              <a:buNone/>
              <a:defRPr sz="5295"/>
            </a:lvl2pPr>
            <a:lvl3pPr marL="1728470" indent="0">
              <a:buNone/>
              <a:defRPr sz="4535"/>
            </a:lvl3pPr>
            <a:lvl4pPr marL="2593340" indent="0">
              <a:buNone/>
              <a:defRPr sz="3780"/>
            </a:lvl4pPr>
            <a:lvl5pPr marL="3457575" indent="0">
              <a:buNone/>
              <a:defRPr sz="3780"/>
            </a:lvl5pPr>
            <a:lvl6pPr marL="4321810" indent="0">
              <a:buNone/>
              <a:defRPr sz="3780"/>
            </a:lvl6pPr>
            <a:lvl7pPr marL="5186045" indent="0">
              <a:buNone/>
              <a:defRPr sz="3780"/>
            </a:lvl7pPr>
            <a:lvl8pPr marL="6050280" indent="0">
              <a:buNone/>
              <a:defRPr sz="3780"/>
            </a:lvl8pPr>
            <a:lvl9pPr marL="6915150" indent="0">
              <a:buNone/>
              <a:defRPr sz="378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3830" y="23688349"/>
            <a:ext cx="12837795" cy="3552199"/>
          </a:xfrm>
        </p:spPr>
        <p:txBody>
          <a:bodyPr/>
          <a:lstStyle>
            <a:lvl1pPr marL="0" indent="0">
              <a:buNone/>
              <a:defRPr sz="2645"/>
            </a:lvl1pPr>
            <a:lvl2pPr marL="864235" indent="0">
              <a:buNone/>
              <a:defRPr sz="2270"/>
            </a:lvl2pPr>
            <a:lvl3pPr marL="1728470" indent="0">
              <a:buNone/>
              <a:defRPr sz="1890"/>
            </a:lvl3pPr>
            <a:lvl4pPr marL="2593340" indent="0">
              <a:buNone/>
              <a:defRPr sz="1725"/>
            </a:lvl4pPr>
            <a:lvl5pPr marL="3457575" indent="0">
              <a:buNone/>
              <a:defRPr sz="1725"/>
            </a:lvl5pPr>
            <a:lvl6pPr marL="4321810" indent="0">
              <a:buNone/>
              <a:defRPr sz="1725"/>
            </a:lvl6pPr>
            <a:lvl7pPr marL="5186045" indent="0">
              <a:buNone/>
              <a:defRPr sz="1725"/>
            </a:lvl7pPr>
            <a:lvl8pPr marL="6050280" indent="0">
              <a:buNone/>
              <a:defRPr sz="1725"/>
            </a:lvl8pPr>
            <a:lvl9pPr marL="6915150" indent="0">
              <a:buNone/>
              <a:defRPr sz="17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0F6E90-3691-4161-9596-B533C6A84484}" type="datetimeFigureOut">
              <a:rPr lang="en-IN"/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840AF-8963-4ACD-B68D-15843FBB90F3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DC0BE3-1078-40CE-BB24-67B7FB64834A}" type="datetimeFigureOut">
              <a:rPr lang="en-IN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C0DF30-8FDC-4644-9D91-50592EDEE2BD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2337" y="1212097"/>
            <a:ext cx="4814173" cy="258252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817" y="1212097"/>
            <a:ext cx="14085914" cy="258252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504A1-DBA2-494E-A7B7-B4E2B14D3D41}" type="datetimeFigureOut">
              <a:rPr lang="en-IN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CF9096-7117-4B17-A730-88C6D0AA59CF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69816" y="1211759"/>
            <a:ext cx="19256693" cy="50445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11480" tIns="205740" rIns="411480" bIns="20574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69816" y="7062364"/>
            <a:ext cx="19256693" cy="199753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11480" tIns="205740" rIns="411480" bIns="20574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9816" y="28053280"/>
            <a:ext cx="4992476" cy="1612120"/>
          </a:xfrm>
          <a:prstGeom prst="rect">
            <a:avLst/>
          </a:prstGeom>
        </p:spPr>
        <p:txBody>
          <a:bodyPr vert="horz" lIns="411480" tIns="205740" rIns="411480" bIns="20574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27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12757F7-7A16-4989-A6F4-66A1DF1D92BF}" type="datetimeFigureOut">
              <a:rPr lang="en-IN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10413" y="28053280"/>
            <a:ext cx="6775503" cy="1612120"/>
          </a:xfrm>
          <a:prstGeom prst="rect">
            <a:avLst/>
          </a:prstGeom>
        </p:spPr>
        <p:txBody>
          <a:bodyPr vert="horz" lIns="411480" tIns="205740" rIns="411480" bIns="20574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227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34033" y="28053280"/>
            <a:ext cx="4992476" cy="1612120"/>
          </a:xfrm>
          <a:prstGeom prst="rect">
            <a:avLst/>
          </a:prstGeom>
        </p:spPr>
        <p:txBody>
          <a:bodyPr vert="horz" lIns="411480" tIns="205740" rIns="411480" bIns="20574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227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23D4790-2E10-4B63-88B8-0789D46CAE4A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28470" rtl="0" eaLnBrk="0" fontAlgn="base" hangingPunct="0">
        <a:spcBef>
          <a:spcPct val="0"/>
        </a:spcBef>
        <a:spcAft>
          <a:spcPct val="0"/>
        </a:spcAft>
        <a:defRPr sz="832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728470" rtl="0" eaLnBrk="0" fontAlgn="base" hangingPunct="0">
        <a:spcBef>
          <a:spcPct val="0"/>
        </a:spcBef>
        <a:spcAft>
          <a:spcPct val="0"/>
        </a:spcAft>
        <a:defRPr sz="8320">
          <a:solidFill>
            <a:schemeClr val="tx1"/>
          </a:solidFill>
          <a:latin typeface="Calibri" panose="020F05020202040A0204" pitchFamily="34" charset="0"/>
        </a:defRPr>
      </a:lvl2pPr>
      <a:lvl3pPr algn="ctr" defTabSz="1728470" rtl="0" eaLnBrk="0" fontAlgn="base" hangingPunct="0">
        <a:spcBef>
          <a:spcPct val="0"/>
        </a:spcBef>
        <a:spcAft>
          <a:spcPct val="0"/>
        </a:spcAft>
        <a:defRPr sz="8320">
          <a:solidFill>
            <a:schemeClr val="tx1"/>
          </a:solidFill>
          <a:latin typeface="Calibri" panose="020F05020202040A0204" pitchFamily="34" charset="0"/>
        </a:defRPr>
      </a:lvl3pPr>
      <a:lvl4pPr algn="ctr" defTabSz="1728470" rtl="0" eaLnBrk="0" fontAlgn="base" hangingPunct="0">
        <a:spcBef>
          <a:spcPct val="0"/>
        </a:spcBef>
        <a:spcAft>
          <a:spcPct val="0"/>
        </a:spcAft>
        <a:defRPr sz="8320">
          <a:solidFill>
            <a:schemeClr val="tx1"/>
          </a:solidFill>
          <a:latin typeface="Calibri" panose="020F05020202040A0204" pitchFamily="34" charset="0"/>
        </a:defRPr>
      </a:lvl4pPr>
      <a:lvl5pPr algn="ctr" defTabSz="1728470" rtl="0" eaLnBrk="0" fontAlgn="base" hangingPunct="0">
        <a:spcBef>
          <a:spcPct val="0"/>
        </a:spcBef>
        <a:spcAft>
          <a:spcPct val="0"/>
        </a:spcAft>
        <a:defRPr sz="8320">
          <a:solidFill>
            <a:schemeClr val="tx1"/>
          </a:solidFill>
          <a:latin typeface="Calibri" panose="020F05020202040A0204" pitchFamily="34" charset="0"/>
        </a:defRPr>
      </a:lvl5pPr>
      <a:lvl6pPr marL="191770" algn="ctr" defTabSz="1728470" rtl="0" fontAlgn="base">
        <a:spcBef>
          <a:spcPct val="0"/>
        </a:spcBef>
        <a:spcAft>
          <a:spcPct val="0"/>
        </a:spcAft>
        <a:defRPr sz="8320">
          <a:solidFill>
            <a:schemeClr val="tx1"/>
          </a:solidFill>
          <a:latin typeface="Calibri" panose="020F05020202040A0204" pitchFamily="34" charset="0"/>
        </a:defRPr>
      </a:lvl6pPr>
      <a:lvl7pPr marL="384175" algn="ctr" defTabSz="1728470" rtl="0" fontAlgn="base">
        <a:spcBef>
          <a:spcPct val="0"/>
        </a:spcBef>
        <a:spcAft>
          <a:spcPct val="0"/>
        </a:spcAft>
        <a:defRPr sz="8320">
          <a:solidFill>
            <a:schemeClr val="tx1"/>
          </a:solidFill>
          <a:latin typeface="Calibri" panose="020F05020202040A0204" pitchFamily="34" charset="0"/>
        </a:defRPr>
      </a:lvl7pPr>
      <a:lvl8pPr marL="575945" algn="ctr" defTabSz="1728470" rtl="0" fontAlgn="base">
        <a:spcBef>
          <a:spcPct val="0"/>
        </a:spcBef>
        <a:spcAft>
          <a:spcPct val="0"/>
        </a:spcAft>
        <a:defRPr sz="8320">
          <a:solidFill>
            <a:schemeClr val="tx1"/>
          </a:solidFill>
          <a:latin typeface="Calibri" panose="020F05020202040A0204" pitchFamily="34" charset="0"/>
        </a:defRPr>
      </a:lvl8pPr>
      <a:lvl9pPr marL="768350" algn="ctr" defTabSz="1728470" rtl="0" fontAlgn="base">
        <a:spcBef>
          <a:spcPct val="0"/>
        </a:spcBef>
        <a:spcAft>
          <a:spcPct val="0"/>
        </a:spcAft>
        <a:defRPr sz="8320">
          <a:solidFill>
            <a:schemeClr val="tx1"/>
          </a:solidFill>
          <a:latin typeface="Calibri" panose="020F05020202040A0204" pitchFamily="34" charset="0"/>
        </a:defRPr>
      </a:lvl9pPr>
    </p:titleStyle>
    <p:bodyStyle>
      <a:lvl1pPr marL="648335" indent="-648335" algn="l" defTabSz="172847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6050" kern="1200">
          <a:solidFill>
            <a:schemeClr val="tx1"/>
          </a:solidFill>
          <a:latin typeface="+mn-lt"/>
          <a:ea typeface="+mn-ea"/>
          <a:cs typeface="+mn-cs"/>
        </a:defRPr>
      </a:lvl1pPr>
      <a:lvl2pPr marL="1404620" indent="-540385" algn="l" defTabSz="172847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5295" kern="1200">
          <a:solidFill>
            <a:schemeClr val="tx1"/>
          </a:solidFill>
          <a:latin typeface="+mn-lt"/>
          <a:ea typeface="+mn-ea"/>
          <a:cs typeface="+mn-cs"/>
        </a:defRPr>
      </a:lvl2pPr>
      <a:lvl3pPr marL="2160905" indent="-432435" algn="l" defTabSz="172847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3pPr>
      <a:lvl4pPr marL="3025140" indent="-432435" algn="l" defTabSz="172847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89375" indent="-432435" algn="l" defTabSz="172847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754245" indent="-432435" algn="l" defTabSz="1728470" rtl="0" eaLnBrk="1" latinLnBrk="0" hangingPunct="1">
        <a:spcBef>
          <a:spcPct val="20000"/>
        </a:spcBef>
        <a:buFont typeface="Arial" panose="020B060402020209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618480" indent="-432435" algn="l" defTabSz="1728470" rtl="0" eaLnBrk="1" latinLnBrk="0" hangingPunct="1">
        <a:spcBef>
          <a:spcPct val="20000"/>
        </a:spcBef>
        <a:buFont typeface="Arial" panose="020B060402020209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482715" indent="-432435" algn="l" defTabSz="1728470" rtl="0" eaLnBrk="1" latinLnBrk="0" hangingPunct="1">
        <a:spcBef>
          <a:spcPct val="20000"/>
        </a:spcBef>
        <a:buFont typeface="Arial" panose="020B060402020209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346950" indent="-432435" algn="l" defTabSz="1728470" rtl="0" eaLnBrk="1" latinLnBrk="0" hangingPunct="1">
        <a:spcBef>
          <a:spcPct val="20000"/>
        </a:spcBef>
        <a:buFont typeface="Arial" panose="020B060402020209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28470" rtl="0" eaLnBrk="1" latinLnBrk="0" hangingPunct="1">
        <a:defRPr sz="3405" kern="1200">
          <a:solidFill>
            <a:schemeClr val="tx1"/>
          </a:solidFill>
          <a:latin typeface="+mn-lt"/>
          <a:ea typeface="+mn-ea"/>
          <a:cs typeface="+mn-cs"/>
        </a:defRPr>
      </a:lvl1pPr>
      <a:lvl2pPr marL="864235" algn="l" defTabSz="1728470" rtl="0" eaLnBrk="1" latinLnBrk="0" hangingPunct="1">
        <a:defRPr sz="3405" kern="1200">
          <a:solidFill>
            <a:schemeClr val="tx1"/>
          </a:solidFill>
          <a:latin typeface="+mn-lt"/>
          <a:ea typeface="+mn-ea"/>
          <a:cs typeface="+mn-cs"/>
        </a:defRPr>
      </a:lvl2pPr>
      <a:lvl3pPr marL="1728470" algn="l" defTabSz="1728470" rtl="0" eaLnBrk="1" latinLnBrk="0" hangingPunct="1">
        <a:defRPr sz="3405" kern="1200">
          <a:solidFill>
            <a:schemeClr val="tx1"/>
          </a:solidFill>
          <a:latin typeface="+mn-lt"/>
          <a:ea typeface="+mn-ea"/>
          <a:cs typeface="+mn-cs"/>
        </a:defRPr>
      </a:lvl3pPr>
      <a:lvl4pPr marL="2593340" algn="l" defTabSz="1728470" rtl="0" eaLnBrk="1" latinLnBrk="0" hangingPunct="1">
        <a:defRPr sz="3405" kern="1200">
          <a:solidFill>
            <a:schemeClr val="tx1"/>
          </a:solidFill>
          <a:latin typeface="+mn-lt"/>
          <a:ea typeface="+mn-ea"/>
          <a:cs typeface="+mn-cs"/>
        </a:defRPr>
      </a:lvl4pPr>
      <a:lvl5pPr marL="3457575" algn="l" defTabSz="1728470" rtl="0" eaLnBrk="1" latinLnBrk="0" hangingPunct="1">
        <a:defRPr sz="3405" kern="1200">
          <a:solidFill>
            <a:schemeClr val="tx1"/>
          </a:solidFill>
          <a:latin typeface="+mn-lt"/>
          <a:ea typeface="+mn-ea"/>
          <a:cs typeface="+mn-cs"/>
        </a:defRPr>
      </a:lvl5pPr>
      <a:lvl6pPr marL="4321810" algn="l" defTabSz="1728470" rtl="0" eaLnBrk="1" latinLnBrk="0" hangingPunct="1">
        <a:defRPr sz="3405" kern="1200">
          <a:solidFill>
            <a:schemeClr val="tx1"/>
          </a:solidFill>
          <a:latin typeface="+mn-lt"/>
          <a:ea typeface="+mn-ea"/>
          <a:cs typeface="+mn-cs"/>
        </a:defRPr>
      </a:lvl6pPr>
      <a:lvl7pPr marL="5186045" algn="l" defTabSz="1728470" rtl="0" eaLnBrk="1" latinLnBrk="0" hangingPunct="1">
        <a:defRPr sz="3405" kern="1200">
          <a:solidFill>
            <a:schemeClr val="tx1"/>
          </a:solidFill>
          <a:latin typeface="+mn-lt"/>
          <a:ea typeface="+mn-ea"/>
          <a:cs typeface="+mn-cs"/>
        </a:defRPr>
      </a:lvl7pPr>
      <a:lvl8pPr marL="6050280" algn="l" defTabSz="1728470" rtl="0" eaLnBrk="1" latinLnBrk="0" hangingPunct="1">
        <a:defRPr sz="3405" kern="1200">
          <a:solidFill>
            <a:schemeClr val="tx1"/>
          </a:solidFill>
          <a:latin typeface="+mn-lt"/>
          <a:ea typeface="+mn-ea"/>
          <a:cs typeface="+mn-cs"/>
        </a:defRPr>
      </a:lvl8pPr>
      <a:lvl9pPr marL="6915150" algn="l" defTabSz="1728470" rtl="0" eaLnBrk="1" latinLnBrk="0" hangingPunct="1">
        <a:defRPr sz="34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3" Type="http://schemas.openxmlformats.org/officeDocument/2006/relationships/notesSlide" Target="../notesSlides/notesSlide1.xml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21.png"/><Relationship Id="rId20" Type="http://schemas.openxmlformats.org/officeDocument/2006/relationships/image" Target="../media/image20.jpeg"/><Relationship Id="rId2" Type="http://schemas.microsoft.com/office/2007/relationships/hdphoto" Target="../media/image2.wdp"/><Relationship Id="rId19" Type="http://schemas.openxmlformats.org/officeDocument/2006/relationships/image" Target="../media/image19.png"/><Relationship Id="rId18" Type="http://schemas.openxmlformats.org/officeDocument/2006/relationships/image" Target="../media/image18.jpeg"/><Relationship Id="rId17" Type="http://schemas.openxmlformats.org/officeDocument/2006/relationships/image" Target="../media/image17.jpeg"/><Relationship Id="rId16" Type="http://schemas.openxmlformats.org/officeDocument/2006/relationships/image" Target="../media/image16.jpeg"/><Relationship Id="rId15" Type="http://schemas.openxmlformats.org/officeDocument/2006/relationships/image" Target="../media/image15.jpeg"/><Relationship Id="rId14" Type="http://schemas.openxmlformats.org/officeDocument/2006/relationships/image" Target="../media/image14.jpeg"/><Relationship Id="rId13" Type="http://schemas.openxmlformats.org/officeDocument/2006/relationships/image" Target="../media/image13.png"/><Relationship Id="rId12" Type="http://schemas.openxmlformats.org/officeDocument/2006/relationships/image" Target="../media/image12.jpeg"/><Relationship Id="rId11" Type="http://schemas.openxmlformats.org/officeDocument/2006/relationships/image" Target="../media/image11.png"/><Relationship Id="rId10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>
            <a:spLocks noChangeAspect="1"/>
          </p:cNvSpPr>
          <p:nvPr/>
        </p:nvSpPr>
        <p:spPr>
          <a:xfrm>
            <a:off x="6879975" y="5352685"/>
            <a:ext cx="13709302" cy="508374"/>
          </a:xfrm>
          <a:prstGeom prst="rect">
            <a:avLst/>
          </a:prstGeom>
          <a:solidFill>
            <a:srgbClr val="002060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7545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2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RESULTS AND DISCUSSION</a:t>
            </a:r>
            <a:endParaRPr lang="en-US" sz="2120" b="1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" name="Rectangle 14"/>
          <p:cNvSpPr>
            <a:spLocks noChangeAspect="1"/>
          </p:cNvSpPr>
          <p:nvPr/>
        </p:nvSpPr>
        <p:spPr>
          <a:xfrm>
            <a:off x="6958784" y="6178797"/>
            <a:ext cx="4470552" cy="5089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7545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2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PROCESS OPTIMISATION </a:t>
            </a:r>
            <a:endParaRPr lang="en-US" sz="212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6" name="Rectangle 15"/>
          <p:cNvSpPr>
            <a:spLocks noChangeAspect="1"/>
          </p:cNvSpPr>
          <p:nvPr/>
        </p:nvSpPr>
        <p:spPr>
          <a:xfrm>
            <a:off x="652140" y="13518205"/>
            <a:ext cx="6012000" cy="510677"/>
          </a:xfrm>
          <a:prstGeom prst="rect">
            <a:avLst/>
          </a:prstGeom>
          <a:solidFill>
            <a:srgbClr val="002060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7545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2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METHODOLOGY</a:t>
            </a:r>
            <a:endParaRPr lang="en-US" sz="2120" b="1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7" name="Rectangle 16"/>
          <p:cNvSpPr>
            <a:spLocks noChangeAspect="1"/>
          </p:cNvSpPr>
          <p:nvPr/>
        </p:nvSpPr>
        <p:spPr>
          <a:xfrm>
            <a:off x="652140" y="14185870"/>
            <a:ext cx="5999257" cy="789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76835" indent="-76835" algn="just" defTabSz="1754505" fontAlgn="auto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defRPr/>
            </a:pPr>
            <a:endParaRPr lang="en-US" sz="126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8" name="Rectangle 17"/>
          <p:cNvSpPr>
            <a:spLocks noChangeAspect="1"/>
          </p:cNvSpPr>
          <p:nvPr/>
        </p:nvSpPr>
        <p:spPr>
          <a:xfrm>
            <a:off x="6908729" y="21905495"/>
            <a:ext cx="13710099" cy="495631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242570" indent="-242570" algn="just" defTabSz="1754505" fontAlgn="auto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Font typeface="Wingdings" panose="05000000000000000000" pitchFamily="2" charset="2"/>
              <a:buChar char="Ø"/>
              <a:defRPr/>
            </a:pPr>
            <a:endParaRPr lang="en-US" sz="1175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61" name="Rectangle 1"/>
          <p:cNvSpPr>
            <a:spLocks noChangeAspect="1" noChangeArrowheads="1"/>
          </p:cNvSpPr>
          <p:nvPr/>
        </p:nvSpPr>
        <p:spPr bwMode="auto">
          <a:xfrm>
            <a:off x="623677" y="10663217"/>
            <a:ext cx="6031380" cy="2676344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lstStyle/>
          <a:p>
            <a:pPr marL="201930" indent="-201930" algn="just" defTabSz="1753870"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en-US" sz="162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Rectangle 2"/>
          <p:cNvSpPr>
            <a:spLocks noChangeAspect="1"/>
          </p:cNvSpPr>
          <p:nvPr/>
        </p:nvSpPr>
        <p:spPr>
          <a:xfrm>
            <a:off x="623677" y="10050896"/>
            <a:ext cx="6031380" cy="512323"/>
          </a:xfrm>
          <a:prstGeom prst="rect">
            <a:avLst/>
          </a:prstGeom>
          <a:solidFill>
            <a:srgbClr val="002060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754505" fontAlgn="auto">
              <a:spcBef>
                <a:spcPts val="0"/>
              </a:spcBef>
              <a:spcAft>
                <a:spcPts val="0"/>
              </a:spcAft>
            </a:pPr>
            <a:r>
              <a:rPr lang="en-US" sz="212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OBJECTIVES</a:t>
            </a:r>
            <a:endParaRPr lang="en-US" sz="2120" b="1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63" name="Rectangle 3"/>
          <p:cNvSpPr>
            <a:spLocks noChangeAspect="1" noChangeArrowheads="1"/>
          </p:cNvSpPr>
          <p:nvPr/>
        </p:nvSpPr>
        <p:spPr bwMode="auto">
          <a:xfrm>
            <a:off x="623677" y="5998745"/>
            <a:ext cx="6040463" cy="3961934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lstStyle/>
          <a:p>
            <a:pPr marL="201930" indent="-201930" algn="just" defTabSz="1753870"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en-US" sz="162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Rectangle 4"/>
          <p:cNvSpPr>
            <a:spLocks noChangeAspect="1"/>
          </p:cNvSpPr>
          <p:nvPr/>
        </p:nvSpPr>
        <p:spPr>
          <a:xfrm>
            <a:off x="631945" y="5358304"/>
            <a:ext cx="6007026" cy="508977"/>
          </a:xfrm>
          <a:prstGeom prst="rect">
            <a:avLst/>
          </a:prstGeom>
          <a:solidFill>
            <a:srgbClr val="002060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7545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2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ABSTRACT</a:t>
            </a:r>
            <a:endParaRPr lang="en-US" sz="2120" b="1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6" name="Rectangle 25"/>
          <p:cNvSpPr>
            <a:spLocks noChangeAspect="1"/>
          </p:cNvSpPr>
          <p:nvPr/>
        </p:nvSpPr>
        <p:spPr>
          <a:xfrm>
            <a:off x="632577" y="27100384"/>
            <a:ext cx="9916433" cy="383863"/>
          </a:xfrm>
          <a:prstGeom prst="rect">
            <a:avLst/>
          </a:prstGeom>
          <a:solidFill>
            <a:srgbClr val="002060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7545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2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CONCLUSIONS</a:t>
            </a:r>
            <a:endParaRPr lang="en-US" sz="2120" b="1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7" name="Rectangle 26"/>
          <p:cNvSpPr>
            <a:spLocks noChangeAspect="1"/>
          </p:cNvSpPr>
          <p:nvPr/>
        </p:nvSpPr>
        <p:spPr>
          <a:xfrm>
            <a:off x="10736923" y="27584426"/>
            <a:ext cx="9987164" cy="1872138"/>
          </a:xfrm>
          <a:prstGeom prst="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just" defTabSz="1754505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85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15900" indent="-215900" algn="just" defTabSz="1754505" fontAlgn="auto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en-US" sz="126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15900" indent="-215900" algn="just" defTabSz="1754505" fontAlgn="auto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en-US" sz="126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8" name="Rectangle 27"/>
          <p:cNvSpPr>
            <a:spLocks noChangeAspect="1"/>
          </p:cNvSpPr>
          <p:nvPr/>
        </p:nvSpPr>
        <p:spPr>
          <a:xfrm>
            <a:off x="614063" y="27630213"/>
            <a:ext cx="9985267" cy="1872138"/>
          </a:xfrm>
          <a:prstGeom prst="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514350" indent="-514350">
              <a:defRPr sz="8200">
                <a:solidFill>
                  <a:schemeClr val="tx1"/>
                </a:solidFill>
                <a:latin typeface="Calibri" panose="020F05020202040A0204" pitchFamily="34" charset="0"/>
              </a:defRPr>
            </a:lvl1pPr>
            <a:lvl2pPr marL="742950" indent="-285750">
              <a:defRPr sz="8200">
                <a:solidFill>
                  <a:schemeClr val="tx1"/>
                </a:solidFill>
                <a:latin typeface="Calibri" panose="020F05020202040A0204" pitchFamily="34" charset="0"/>
              </a:defRPr>
            </a:lvl2pPr>
            <a:lvl3pPr marL="1143000" indent="-228600">
              <a:defRPr sz="8200">
                <a:solidFill>
                  <a:schemeClr val="tx1"/>
                </a:solidFill>
                <a:latin typeface="Calibri" panose="020F05020202040A0204" pitchFamily="34" charset="0"/>
              </a:defRPr>
            </a:lvl3pPr>
            <a:lvl4pPr marL="1600200" indent="-228600">
              <a:defRPr sz="8200">
                <a:solidFill>
                  <a:schemeClr val="tx1"/>
                </a:solidFill>
                <a:latin typeface="Calibri" panose="020F05020202040A0204" pitchFamily="34" charset="0"/>
              </a:defRPr>
            </a:lvl4pPr>
            <a:lvl5pPr marL="2057400" indent="-228600">
              <a:defRPr sz="8200">
                <a:solidFill>
                  <a:schemeClr val="tx1"/>
                </a:solidFill>
                <a:latin typeface="Calibri" panose="020F05020202040A0204" pitchFamily="34" charset="0"/>
              </a:defRPr>
            </a:lvl5pPr>
            <a:lvl6pPr marL="2514600" indent="-228600" defTabSz="4175125" fontAlgn="base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Calibri" panose="020F05020202040A0204" pitchFamily="34" charset="0"/>
              </a:defRPr>
            </a:lvl6pPr>
            <a:lvl7pPr marL="2971800" indent="-228600" defTabSz="4175125" fontAlgn="base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Calibri" panose="020F05020202040A0204" pitchFamily="34" charset="0"/>
              </a:defRPr>
            </a:lvl7pPr>
            <a:lvl8pPr marL="3429000" indent="-228600" defTabSz="4175125" fontAlgn="base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Calibri" panose="020F05020202040A0204" pitchFamily="34" charset="0"/>
              </a:defRPr>
            </a:lvl8pPr>
            <a:lvl9pPr marL="3886200" indent="-228600" defTabSz="4175125" fontAlgn="base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Calibri" panose="020F05020202040A0204" pitchFamily="34" charset="0"/>
              </a:defRPr>
            </a:lvl9pPr>
          </a:lstStyle>
          <a:p>
            <a:pPr algn="just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Calibri" panose="020F05020202040A0204" pitchFamily="34" charset="0"/>
              <a:buAutoNum type="arabicPeriod"/>
              <a:defRPr/>
            </a:pPr>
            <a:endParaRPr lang="en-US" sz="148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9" name="Rectangle 28"/>
          <p:cNvSpPr>
            <a:spLocks noChangeAspect="1"/>
          </p:cNvSpPr>
          <p:nvPr/>
        </p:nvSpPr>
        <p:spPr>
          <a:xfrm>
            <a:off x="10761906" y="27098903"/>
            <a:ext cx="9962181" cy="386823"/>
          </a:xfrm>
          <a:prstGeom prst="rect">
            <a:avLst/>
          </a:prstGeom>
          <a:solidFill>
            <a:srgbClr val="002060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7545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2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REFERENCES</a:t>
            </a:r>
            <a:endParaRPr lang="en-US" sz="2120" b="1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471759" y="1723273"/>
            <a:ext cx="20412255" cy="280407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105"/>
          </a:p>
        </p:txBody>
      </p:sp>
      <p:sp>
        <p:nvSpPr>
          <p:cNvPr id="12" name="Rectangle 11"/>
          <p:cNvSpPr>
            <a:spLocks noChangeAspect="1"/>
          </p:cNvSpPr>
          <p:nvPr/>
        </p:nvSpPr>
        <p:spPr>
          <a:xfrm>
            <a:off x="2468562" y="274637"/>
            <a:ext cx="15985472" cy="1267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3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Department of Chemical Engineering</a:t>
            </a:r>
            <a:endParaRPr lang="en-US" sz="283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sz="283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TKM College of Engineering, Kollam-India</a:t>
            </a:r>
            <a:endParaRPr lang="en-US" sz="283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sz="198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28th March  2026</a:t>
            </a:r>
            <a:endParaRPr lang="en-US" sz="198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13" name="Table 12"/>
          <p:cNvGraphicFramePr>
            <a:graphicFrameLocks noGrp="1" noChangeAspect="1"/>
          </p:cNvGraphicFramePr>
          <p:nvPr/>
        </p:nvGraphicFramePr>
        <p:xfrm>
          <a:off x="691593" y="1950270"/>
          <a:ext cx="19926458" cy="3295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3341"/>
                <a:gridCol w="14995712"/>
                <a:gridCol w="2307405"/>
              </a:tblGrid>
              <a:tr h="201555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700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64640" marR="64640" marT="32320" marB="323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7284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4400" b="1" dirty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EXTRACTION OF VALUE ADDED COMPOUND FROM POMELO PEEL AND ITS APPLICATION AS EDIBLE COATING</a:t>
                      </a:r>
                      <a:endParaRPr lang="en-US" sz="4400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>
                        <a:defRPr/>
                      </a:pPr>
                      <a:endParaRPr lang="en-US" sz="1700" b="1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ctr"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Amal Pramod ¹ ,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Bhadhra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M Raj ¹ ,Sarah S ¹, Sneha S ¹ ,  Femina A ¹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ctr">
                        <a:defRPr/>
                      </a:pPr>
                      <a:r>
                        <a:rPr lang="en-US" sz="1800" b="1" baseline="30000" dirty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Affiliation: Dept. of Chemical Engineering, TKM College of Engineering , Kollam, Kerala, India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ctr" defTabSz="1271905">
                        <a:lnSpc>
                          <a:spcPct val="90000"/>
                        </a:lnSpc>
                        <a:spcBef>
                          <a:spcPts val="1390"/>
                        </a:spcBef>
                      </a:pPr>
                      <a:endParaRPr lang="en-US" sz="1700" b="1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64640" marR="64640" marT="32320" marB="323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Project  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ctr"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Group ID: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CH05</a:t>
                      </a:r>
                      <a:endParaRPr lang="en-US" sz="2400" dirty="0">
                        <a:solidFill>
                          <a:srgbClr val="FF0000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0" marR="0" lvl="0" indent="0" algn="ctr" defTabSz="24453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000" dirty="0">
                        <a:solidFill>
                          <a:srgbClr val="FF0000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64640" marR="64640" marT="32320" marB="323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8061" y="6089117"/>
            <a:ext cx="5820158" cy="4107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2951480">
              <a:spcAft>
                <a:spcPts val="425"/>
              </a:spcAft>
            </a:pPr>
            <a:r>
              <a:rPr 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study investigates the use of pomelo peel as a source of pectin for edible coatings. Pectin was extracted, characterized by FTIR, and used to prepare a coating. The coating was applied to tomatoes and evaluated through weight loss analysis under different storage conditions. Results showed reduced moisture loss and improved shelf-life, especially under cold storage. This highlights the potential of fruit waste-derived pectin as an eco-friendly alternative to synthetic packaging</a:t>
            </a:r>
            <a:r>
              <a:rPr lang="en-US" sz="1600" dirty="0"/>
              <a:t>.</a:t>
            </a:r>
            <a:endParaRPr lang="en-US" sz="1600" dirty="0"/>
          </a:p>
          <a:p>
            <a:pPr marL="128905" indent="-128905" algn="just" defTabSz="2951480">
              <a:spcAft>
                <a:spcPts val="425"/>
              </a:spcAft>
              <a:buFont typeface="Arial" panose="020B0604020202090204" pitchFamily="34" charset="0"/>
              <a:buChar char="•"/>
            </a:pPr>
            <a:endParaRPr lang="en-US" altLang="en-US" sz="155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5447" y="10567031"/>
            <a:ext cx="5845384" cy="2775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2951480">
              <a:lnSpc>
                <a:spcPct val="150000"/>
              </a:lnSpc>
              <a:spcAft>
                <a:spcPts val="425"/>
              </a:spcAft>
              <a:buFont typeface="Wingdings" panose="05000000000000000000" pitchFamily="2" charset="2"/>
              <a:buChar char="q"/>
            </a:pPr>
            <a:r>
              <a:rPr lang="en-US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Extraction of pectin from Pomelo peel</a:t>
            </a:r>
            <a:endParaRPr lang="en-US" alt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just" defTabSz="2951480">
              <a:lnSpc>
                <a:spcPct val="150000"/>
              </a:lnSpc>
              <a:spcAft>
                <a:spcPts val="425"/>
              </a:spcAft>
              <a:buFont typeface="Wingdings" panose="05000000000000000000" pitchFamily="2" charset="2"/>
              <a:buChar char="q"/>
            </a:pPr>
            <a:r>
              <a:rPr lang="en-US" altLang="en-US" sz="2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Characterisation</a:t>
            </a:r>
            <a:r>
              <a:rPr lang="en-US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using FTIR</a:t>
            </a:r>
            <a:endParaRPr lang="en-US" alt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just" defTabSz="2951480">
              <a:lnSpc>
                <a:spcPct val="150000"/>
              </a:lnSpc>
              <a:spcAft>
                <a:spcPts val="425"/>
              </a:spcAft>
              <a:buFont typeface="Wingdings" panose="05000000000000000000" pitchFamily="2" charset="2"/>
              <a:buChar char="q"/>
            </a:pPr>
            <a:r>
              <a:rPr lang="en-US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Process optimization of pectin extraction</a:t>
            </a:r>
            <a:endParaRPr lang="en-US" alt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just" defTabSz="2951480">
              <a:lnSpc>
                <a:spcPct val="150000"/>
              </a:lnSpc>
              <a:spcAft>
                <a:spcPts val="425"/>
              </a:spcAft>
              <a:buFont typeface="Wingdings" panose="05000000000000000000" pitchFamily="2" charset="2"/>
              <a:buChar char="q"/>
            </a:pPr>
            <a:r>
              <a:rPr lang="en-US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Edible coating preparation</a:t>
            </a:r>
            <a:endParaRPr lang="en-US" alt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just" defTabSz="2951480">
              <a:lnSpc>
                <a:spcPct val="150000"/>
              </a:lnSpc>
              <a:spcAft>
                <a:spcPts val="425"/>
              </a:spcAft>
              <a:buFont typeface="Wingdings" panose="05000000000000000000" pitchFamily="2" charset="2"/>
              <a:buChar char="q"/>
            </a:pPr>
            <a:r>
              <a:rPr lang="en-US" altLang="en-US" sz="2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Comparitive</a:t>
            </a:r>
            <a:r>
              <a:rPr lang="en-US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Study</a:t>
            </a:r>
            <a:endParaRPr lang="en-US" alt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837174" y="27576713"/>
            <a:ext cx="8888015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latin typeface="Calibri" panose="020F05020202040A0204" pitchFamily="34" charset="0"/>
                <a:ea typeface="Calibri" panose="020F05020202040A0204" pitchFamily="34" charset="0"/>
                <a:cs typeface="Calibri" panose="020F05020202040A0204" pitchFamily="34" charset="0"/>
              </a:rPr>
              <a:t>[1] Urias-Orona, V., </a:t>
            </a:r>
            <a:r>
              <a:rPr lang="en-US" sz="1400" dirty="0" err="1">
                <a:latin typeface="Calibri" panose="020F05020202040A0204" pitchFamily="34" charset="0"/>
                <a:ea typeface="Calibri" panose="020F05020202040A0204" pitchFamily="34" charset="0"/>
                <a:cs typeface="Calibri" panose="020F05020202040A0204" pitchFamily="34" charset="0"/>
              </a:rPr>
              <a:t>Rascón</a:t>
            </a:r>
            <a:r>
              <a:rPr lang="en-US" sz="1400" dirty="0">
                <a:latin typeface="Calibri" panose="020F05020202040A0204" pitchFamily="34" charset="0"/>
                <a:ea typeface="Calibri" panose="020F05020202040A0204" pitchFamily="34" charset="0"/>
                <a:cs typeface="Calibri" panose="020F05020202040A0204" pitchFamily="34" charset="0"/>
              </a:rPr>
              <a:t>-Chu, A., Lizardi-Mendoza, J., Carvajal-Millán, E., Gardea, A. A., &amp; Ramírez-Wong, B. (2010). A novel pectin material: extraction, characterization and gelling properties. International journal of molecular sciences, 11(10), 3686-3695.</a:t>
            </a:r>
            <a:endParaRPr lang="en-US" sz="1400" dirty="0">
              <a:latin typeface="Calibri" panose="020F05020202040A0204" pitchFamily="34" charset="0"/>
              <a:ea typeface="Calibri" panose="020F05020202040A0204" pitchFamily="34" charset="0"/>
              <a:cs typeface="Calibri" panose="020F05020202040A0204" pitchFamily="34" charset="0"/>
            </a:endParaRPr>
          </a:p>
          <a:p>
            <a:pPr marL="0" indent="0">
              <a:buNone/>
            </a:pPr>
            <a:endParaRPr lang="en-IN" sz="1500" dirty="0">
              <a:latin typeface="Calibri" panose="020F05020202040A0204" pitchFamily="34" charset="0"/>
              <a:ea typeface="Calibri" panose="020F05020202040A0204" pitchFamily="34" charset="0"/>
              <a:cs typeface="Calibri" panose="020F05020202040A0204" pitchFamily="34" charset="0"/>
            </a:endParaRPr>
          </a:p>
        </p:txBody>
      </p:sp>
      <p:sp>
        <p:nvSpPr>
          <p:cNvPr id="32" name="Rectangle 1"/>
          <p:cNvSpPr>
            <a:spLocks noChangeAspect="1" noChangeArrowheads="1"/>
          </p:cNvSpPr>
          <p:nvPr/>
        </p:nvSpPr>
        <p:spPr bwMode="auto">
          <a:xfrm>
            <a:off x="6900529" y="6042425"/>
            <a:ext cx="13632771" cy="1548182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lstStyle/>
          <a:p>
            <a:pPr marL="201930" indent="-201930" algn="just" defTabSz="1753870"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en-US" sz="162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Rectangle 3"/>
          <p:cNvSpPr>
            <a:spLocks noChangeAspect="1"/>
          </p:cNvSpPr>
          <p:nvPr/>
        </p:nvSpPr>
        <p:spPr>
          <a:xfrm>
            <a:off x="10816935" y="28345375"/>
            <a:ext cx="9820275" cy="350239"/>
          </a:xfrm>
          <a:prstGeom prst="rect">
            <a:avLst/>
          </a:prstGeom>
          <a:solidFill>
            <a:srgbClr val="002060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7545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2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ACKNOWLEDGEMENT </a:t>
            </a:r>
            <a:endParaRPr lang="en-US" sz="2120" b="1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905771" y="28810549"/>
            <a:ext cx="97122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25"/>
              </a:spcAft>
            </a:pPr>
            <a:r>
              <a:rPr lang="en-US" sz="1800" dirty="0">
                <a:latin typeface="Times New Roman" panose="02020503050405090304" pitchFamily="18" charset="0"/>
              </a:rPr>
              <a:t>We thank the Dept. of Chemical Engineering TKM  College of Engineering for providing us with all required facilities </a:t>
            </a:r>
            <a:br>
              <a:rPr lang="en-US" sz="1800" dirty="0">
                <a:latin typeface="Times New Roman" panose="02020503050405090304" pitchFamily="18" charset="0"/>
              </a:rPr>
            </a:br>
            <a:endParaRPr lang="en-US" sz="1800" dirty="0">
              <a:latin typeface="Times New Roman" panose="0202050305040509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40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7531" y="2648643"/>
            <a:ext cx="2143980" cy="18794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</p:pic>
      <p:sp>
        <p:nvSpPr>
          <p:cNvPr id="9" name="TextBox 8"/>
          <p:cNvSpPr txBox="1"/>
          <p:nvPr/>
        </p:nvSpPr>
        <p:spPr>
          <a:xfrm>
            <a:off x="907192" y="14199099"/>
            <a:ext cx="547343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Raw material collection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Cleaning, Drying &amp; Grinding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Hot acid extraction of pectin using citric acid.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Centrifugation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Gel Pectin separated using ethanol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Centrifugation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Dried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Edible coating preparation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Comparitive</a:t>
            </a: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study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1201721" y="17511904"/>
            <a:ext cx="807382" cy="143604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324130" y="17511903"/>
            <a:ext cx="806654" cy="143604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692" y="17549737"/>
            <a:ext cx="1141162" cy="1110844"/>
          </a:xfrm>
          <a:prstGeom prst="rect">
            <a:avLst/>
          </a:prstGeom>
        </p:spPr>
      </p:pic>
      <p:sp>
        <p:nvSpPr>
          <p:cNvPr id="35" name="Arrow: Right 34"/>
          <p:cNvSpPr/>
          <p:nvPr/>
        </p:nvSpPr>
        <p:spPr>
          <a:xfrm>
            <a:off x="2437489" y="18120483"/>
            <a:ext cx="381000" cy="21480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Right 35"/>
          <p:cNvSpPr/>
          <p:nvPr/>
        </p:nvSpPr>
        <p:spPr>
          <a:xfrm>
            <a:off x="4635911" y="18138042"/>
            <a:ext cx="381000" cy="21480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971" y="19246409"/>
            <a:ext cx="961458" cy="1110844"/>
          </a:xfrm>
          <a:prstGeom prst="rect">
            <a:avLst/>
          </a:prstGeom>
        </p:spPr>
      </p:pic>
      <p:sp>
        <p:nvSpPr>
          <p:cNvPr id="42" name="Arrow: Right 41"/>
          <p:cNvSpPr/>
          <p:nvPr/>
        </p:nvSpPr>
        <p:spPr>
          <a:xfrm rot="5400000">
            <a:off x="5633772" y="18853053"/>
            <a:ext cx="381000" cy="21480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Arrow: Right 42"/>
          <p:cNvSpPr/>
          <p:nvPr/>
        </p:nvSpPr>
        <p:spPr>
          <a:xfrm rot="10800000">
            <a:off x="4635911" y="19710129"/>
            <a:ext cx="381000" cy="21480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Right 43"/>
          <p:cNvSpPr/>
          <p:nvPr/>
        </p:nvSpPr>
        <p:spPr>
          <a:xfrm rot="10800000">
            <a:off x="2390686" y="19668170"/>
            <a:ext cx="381000" cy="21480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385" y="19070259"/>
            <a:ext cx="801136" cy="1233795"/>
          </a:xfrm>
          <a:prstGeom prst="rect">
            <a:avLst/>
          </a:prstGeom>
        </p:spPr>
      </p:pic>
      <p:sp>
        <p:nvSpPr>
          <p:cNvPr id="47" name="Arrow: Right 46"/>
          <p:cNvSpPr/>
          <p:nvPr/>
        </p:nvSpPr>
        <p:spPr>
          <a:xfrm rot="5400000">
            <a:off x="1414911" y="20568517"/>
            <a:ext cx="381000" cy="21480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64" y="20969005"/>
            <a:ext cx="1347778" cy="807382"/>
          </a:xfrm>
          <a:prstGeom prst="rect">
            <a:avLst/>
          </a:prstGeom>
        </p:spPr>
      </p:pic>
      <p:sp>
        <p:nvSpPr>
          <p:cNvPr id="50" name="Arrow: Right 49"/>
          <p:cNvSpPr/>
          <p:nvPr/>
        </p:nvSpPr>
        <p:spPr>
          <a:xfrm>
            <a:off x="2483223" y="21276830"/>
            <a:ext cx="381000" cy="21480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272" y="20756573"/>
            <a:ext cx="928114" cy="1148922"/>
          </a:xfrm>
          <a:prstGeom prst="rect">
            <a:avLst/>
          </a:prstGeom>
        </p:spPr>
      </p:pic>
      <p:sp>
        <p:nvSpPr>
          <p:cNvPr id="53" name="Arrow: Right 52"/>
          <p:cNvSpPr/>
          <p:nvPr/>
        </p:nvSpPr>
        <p:spPr>
          <a:xfrm>
            <a:off x="4632436" y="21132823"/>
            <a:ext cx="381000" cy="21480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754" y="20895899"/>
            <a:ext cx="1218239" cy="688654"/>
          </a:xfrm>
          <a:prstGeom prst="rect">
            <a:avLst/>
          </a:prstGeom>
        </p:spPr>
      </p:pic>
      <p:sp>
        <p:nvSpPr>
          <p:cNvPr id="57" name="Rectangle 56"/>
          <p:cNvSpPr>
            <a:spLocks noChangeAspect="1"/>
          </p:cNvSpPr>
          <p:nvPr/>
        </p:nvSpPr>
        <p:spPr>
          <a:xfrm>
            <a:off x="691593" y="22253903"/>
            <a:ext cx="5947378" cy="508374"/>
          </a:xfrm>
          <a:prstGeom prst="rect">
            <a:avLst/>
          </a:prstGeom>
          <a:solidFill>
            <a:srgbClr val="002060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7545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20" b="1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FTIR ANALYSIS</a:t>
            </a:r>
            <a:endParaRPr lang="en-US" sz="2120" b="1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90" y="22823232"/>
            <a:ext cx="4193372" cy="271958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37600" y="25515705"/>
            <a:ext cx="299977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spectrum is consistent with reported FTIR profiles of pectin, confirming the successful extraction</a:t>
            </a:r>
            <a:endParaRPr lang="en-IN" sz="17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Rectangle 1"/>
          <p:cNvSpPr>
            <a:spLocks noChangeAspect="1" noChangeArrowheads="1"/>
          </p:cNvSpPr>
          <p:nvPr/>
        </p:nvSpPr>
        <p:spPr bwMode="auto">
          <a:xfrm>
            <a:off x="628217" y="22885490"/>
            <a:ext cx="6031380" cy="409638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lstStyle/>
          <a:p>
            <a:pPr marL="201930" indent="-201930" algn="just" defTabSz="1753870"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en-US" sz="162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857" y="25207402"/>
            <a:ext cx="2303291" cy="1582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95334" y="22981677"/>
            <a:ext cx="236188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observed functional groups indicate that the extracted pectin retained its structural integrity without significant chemical degradation.</a:t>
            </a:r>
            <a:endParaRPr lang="en-IN" sz="1700" dirty="0"/>
          </a:p>
        </p:txBody>
      </p:sp>
      <p:pic>
        <p:nvPicPr>
          <p:cNvPr id="24" name="Content Placeholder 9"/>
          <p:cNvPicPr>
            <a:picLocks noGrp="1"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808" y="9418637"/>
            <a:ext cx="4278879" cy="409816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0472" y="9149513"/>
            <a:ext cx="4507373" cy="1807688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9716" y="11142841"/>
            <a:ext cx="4618920" cy="1726546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7886" y="6362462"/>
            <a:ext cx="4510528" cy="259642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6130765" y="7400712"/>
            <a:ext cx="4343399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All parameters are independent of one another (VIF=1)</a:t>
            </a:r>
            <a:endParaRPr 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Model fits the experimental data (</a:t>
            </a: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 = 0.8004)</a:t>
            </a:r>
            <a:endParaRPr 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Extraction time has the strongest influence</a:t>
            </a: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(highest F = 2.23)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21.84% of variability can be explained (R² = 0.2184)</a:t>
            </a:r>
            <a:endParaRPr 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Reasonable consistency in experimental results (</a:t>
            </a:r>
            <a:r>
              <a:rPr lang="el-GR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σ</a:t>
            </a:r>
            <a:r>
              <a:rPr 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0.1843</a:t>
            </a:r>
            <a:r>
              <a:rPr 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Pectin yield </a:t>
            </a: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∝ Time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Pectin yield </a:t>
            </a: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∝ 1/Temp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Pectin yield </a:t>
            </a: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∝ 1/Citric acid amt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5491485" y="19624983"/>
            <a:ext cx="47724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Effect of time &gt; temp &gt; citric acid amt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3" name="Rectangle 1"/>
          <p:cNvSpPr>
            <a:spLocks noChangeAspect="1" noChangeArrowheads="1"/>
          </p:cNvSpPr>
          <p:nvPr/>
        </p:nvSpPr>
        <p:spPr bwMode="auto">
          <a:xfrm>
            <a:off x="15491485" y="19565694"/>
            <a:ext cx="4676455" cy="566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lstStyle/>
          <a:p>
            <a:pPr marL="201930" indent="-201930" algn="just" defTabSz="1753870"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en-US" sz="162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48" name="TextBox 2047"/>
          <p:cNvSpPr txBox="1"/>
          <p:nvPr/>
        </p:nvSpPr>
        <p:spPr>
          <a:xfrm>
            <a:off x="7093064" y="13971891"/>
            <a:ext cx="405213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Highest yield was obtained in 6</a:t>
            </a:r>
            <a:r>
              <a:rPr lang="en-IN" sz="1900" b="1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</a:t>
            </a:r>
            <a:r>
              <a:rPr lang="en-IN" sz="19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run</a:t>
            </a:r>
            <a:endParaRPr lang="en-IN" sz="19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49" name="Rectangle 1"/>
          <p:cNvSpPr>
            <a:spLocks noChangeAspect="1" noChangeArrowheads="1"/>
          </p:cNvSpPr>
          <p:nvPr/>
        </p:nvSpPr>
        <p:spPr bwMode="auto">
          <a:xfrm>
            <a:off x="7064170" y="13867252"/>
            <a:ext cx="4123000" cy="566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lstStyle/>
          <a:p>
            <a:pPr marL="201930" indent="-201930" algn="just" defTabSz="1753870"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en-US" sz="162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051" name="Picture 2050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072" y="19087483"/>
            <a:ext cx="1207707" cy="1269770"/>
          </a:xfrm>
          <a:prstGeom prst="rect">
            <a:avLst/>
          </a:prstGeom>
        </p:spPr>
      </p:pic>
      <p:sp>
        <p:nvSpPr>
          <p:cNvPr id="2052" name="Rectangle 2051"/>
          <p:cNvSpPr>
            <a:spLocks noChangeAspect="1"/>
          </p:cNvSpPr>
          <p:nvPr/>
        </p:nvSpPr>
        <p:spPr>
          <a:xfrm>
            <a:off x="7266702" y="22092260"/>
            <a:ext cx="4577578" cy="5089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7545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2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EDIBLE COATING </a:t>
            </a:r>
            <a:endParaRPr lang="en-US" sz="212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53" name="TextBox 2052"/>
          <p:cNvSpPr txBox="1"/>
          <p:nvPr/>
        </p:nvSpPr>
        <p:spPr>
          <a:xfrm>
            <a:off x="7192962" y="22636241"/>
            <a:ext cx="133992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Edible coating was prepared. It was coated on 3 tomatoes with </a:t>
            </a:r>
            <a:r>
              <a:rPr lang="en-IN" sz="2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avg</a:t>
            </a: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thickness of 0.5mm. 2 of them were kept under cold condition and 1 in ambient condition. This was compared with uncoated tomatoes. Weight loss analysis was carried out.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055" name="Picture 2054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3837" y="13615505"/>
            <a:ext cx="9011777" cy="4755308"/>
          </a:xfrm>
          <a:prstGeom prst="rect">
            <a:avLst/>
          </a:prstGeom>
        </p:spPr>
      </p:pic>
      <p:sp>
        <p:nvSpPr>
          <p:cNvPr id="2056" name="TextBox 2055"/>
          <p:cNvSpPr txBox="1"/>
          <p:nvPr/>
        </p:nvSpPr>
        <p:spPr>
          <a:xfrm>
            <a:off x="7252181" y="7028316"/>
            <a:ext cx="429814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Design Expert was used for optimisation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Box–Behnken Design (BBD) was used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type of RSM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57" name="TextBox 2056"/>
          <p:cNvSpPr txBox="1"/>
          <p:nvPr/>
        </p:nvSpPr>
        <p:spPr>
          <a:xfrm>
            <a:off x="7192621" y="15209837"/>
            <a:ext cx="4335265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Regression model: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200" b="1" dirty="0">
                <a:latin typeface="Times New Roman" panose="02020503050405090304" pitchFamily="18" charset="0"/>
                <a:ea typeface="Calibri" panose="020F05020202040A0204" pitchFamily="34" charset="0"/>
                <a:cs typeface="Times New Roman" panose="02020503050405090304" pitchFamily="18" charset="0"/>
              </a:rPr>
              <a:t>Yield = 0.4221 − 0.0069A −</a:t>
            </a:r>
            <a:endParaRPr lang="en-US" sz="2200" b="1" dirty="0">
              <a:latin typeface="Times New Roman" panose="02020503050405090304" pitchFamily="18" charset="0"/>
              <a:ea typeface="Calibri" panose="020F05020202040A0204" pitchFamily="34" charset="0"/>
              <a:cs typeface="Times New Roman" panose="02020503050405090304" pitchFamily="18" charset="0"/>
            </a:endParaRPr>
          </a:p>
          <a:p>
            <a:r>
              <a:rPr lang="en-US" sz="2200" b="1" dirty="0">
                <a:latin typeface="Times New Roman" panose="02020503050405090304" pitchFamily="18" charset="0"/>
                <a:ea typeface="Calibri" panose="020F05020202040A0204" pitchFamily="34" charset="0"/>
                <a:cs typeface="Times New Roman" panose="02020503050405090304" pitchFamily="18" charset="0"/>
              </a:rPr>
              <a:t>                     0.0596B + 0.0973C </a:t>
            </a:r>
            <a:endParaRPr lang="en-US" sz="2200" b="1" dirty="0">
              <a:latin typeface="Times New Roman" panose="02020503050405090304" pitchFamily="18" charset="0"/>
              <a:ea typeface="Calibri" panose="020F05020202040A0204" pitchFamily="34" charset="0"/>
              <a:cs typeface="Times New Roman" panose="02020503050405090304" pitchFamily="18" charset="0"/>
            </a:endParaRPr>
          </a:p>
          <a:p>
            <a:r>
              <a:rPr lang="en-US" sz="2000" b="1" dirty="0">
                <a:latin typeface="Times New Roman" panose="02020503050405090304" pitchFamily="18" charset="0"/>
                <a:ea typeface="Calibri" panose="020F05020202040A0204" pitchFamily="34" charset="0"/>
                <a:cs typeface="Times New Roman" panose="02020503050405090304" pitchFamily="18" charset="0"/>
              </a:rPr>
              <a:t>A = citric acid amount</a:t>
            </a:r>
            <a:endParaRPr lang="en-US" sz="2000" b="1" dirty="0">
              <a:latin typeface="Times New Roman" panose="02020503050405090304" pitchFamily="18" charset="0"/>
              <a:ea typeface="Calibri" panose="020F05020202040A0204" pitchFamily="34" charset="0"/>
              <a:cs typeface="Times New Roman" panose="02020503050405090304" pitchFamily="18" charset="0"/>
            </a:endParaRPr>
          </a:p>
          <a:p>
            <a:r>
              <a:rPr lang="en-US" sz="2000" b="1" dirty="0">
                <a:latin typeface="Times New Roman" panose="02020503050405090304" pitchFamily="18" charset="0"/>
                <a:ea typeface="Calibri" panose="020F05020202040A0204" pitchFamily="34" charset="0"/>
                <a:cs typeface="Times New Roman" panose="02020503050405090304" pitchFamily="18" charset="0"/>
              </a:rPr>
              <a:t>B = temperature</a:t>
            </a:r>
            <a:endParaRPr lang="en-US" sz="2000" b="1" dirty="0">
              <a:latin typeface="Times New Roman" panose="02020503050405090304" pitchFamily="18" charset="0"/>
              <a:ea typeface="Calibri" panose="020F05020202040A0204" pitchFamily="34" charset="0"/>
              <a:cs typeface="Times New Roman" panose="02020503050405090304" pitchFamily="18" charset="0"/>
            </a:endParaRPr>
          </a:p>
          <a:p>
            <a:r>
              <a:rPr lang="en-US" sz="2000" b="1" dirty="0">
                <a:latin typeface="Times New Roman" panose="02020503050405090304" pitchFamily="18" charset="0"/>
                <a:ea typeface="Calibri" panose="020F05020202040A0204" pitchFamily="34" charset="0"/>
                <a:cs typeface="Times New Roman" panose="02020503050405090304" pitchFamily="18" charset="0"/>
              </a:rPr>
              <a:t>C = extraction time</a:t>
            </a:r>
            <a:endParaRPr lang="en-US" sz="2200" b="1" dirty="0">
              <a:latin typeface="Times New Roman" panose="02020503050405090304" pitchFamily="18" charset="0"/>
              <a:ea typeface="Calibri" panose="020F05020202040A0204" pitchFamily="34" charset="0"/>
              <a:cs typeface="Times New Roman" panose="02020503050405090304" pitchFamily="18" charset="0"/>
            </a:endParaRPr>
          </a:p>
          <a:p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58" name="Rectangle 1"/>
          <p:cNvSpPr>
            <a:spLocks noChangeAspect="1" noChangeArrowheads="1"/>
          </p:cNvSpPr>
          <p:nvPr/>
        </p:nvSpPr>
        <p:spPr bwMode="auto">
          <a:xfrm>
            <a:off x="7084808" y="15189428"/>
            <a:ext cx="4156159" cy="2077809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lstStyle/>
          <a:p>
            <a:pPr marL="201930" indent="-201930" algn="just" defTabSz="1753870"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en-US" sz="162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060" name="Picture 2059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700" y="24353837"/>
            <a:ext cx="5493523" cy="2429862"/>
          </a:xfrm>
          <a:prstGeom prst="rect">
            <a:avLst/>
          </a:prstGeom>
        </p:spPr>
      </p:pic>
      <p:sp>
        <p:nvSpPr>
          <p:cNvPr id="2062" name="TextBox 2061"/>
          <p:cNvSpPr txBox="1"/>
          <p:nvPr/>
        </p:nvSpPr>
        <p:spPr>
          <a:xfrm>
            <a:off x="8686633" y="23908305"/>
            <a:ext cx="2783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% Weight loss of tomatoes</a:t>
            </a: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64" name="TextBox 2063"/>
          <p:cNvSpPr txBox="1"/>
          <p:nvPr/>
        </p:nvSpPr>
        <p:spPr>
          <a:xfrm>
            <a:off x="12907962" y="24582437"/>
            <a:ext cx="471940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Sample 1 -  Cold, Coated</a:t>
            </a: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Sample 2 -  Cold, Uncoated</a:t>
            </a: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Sample 3 - Ambient, Coated</a:t>
            </a: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Sample 4 - Ambient, Uncoated</a:t>
            </a: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Sample 5 - Cold, Coated</a:t>
            </a: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Sample 6 – Cold, Uncoated</a:t>
            </a: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IN" sz="2200" dirty="0"/>
          </a:p>
        </p:txBody>
      </p:sp>
      <p:pic>
        <p:nvPicPr>
          <p:cNvPr id="2074" name="Picture 2073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2782" y="23653185"/>
            <a:ext cx="3696439" cy="2834252"/>
          </a:xfrm>
          <a:prstGeom prst="rect">
            <a:avLst/>
          </a:prstGeom>
        </p:spPr>
      </p:pic>
      <p:pic>
        <p:nvPicPr>
          <p:cNvPr id="2081" name="Picture 2080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198" y="18154554"/>
            <a:ext cx="4662460" cy="2989991"/>
          </a:xfrm>
          <a:prstGeom prst="rect">
            <a:avLst/>
          </a:prstGeom>
        </p:spPr>
      </p:pic>
      <p:sp>
        <p:nvSpPr>
          <p:cNvPr id="2082" name="TextBox 2081"/>
          <p:cNvSpPr txBox="1"/>
          <p:nvPr/>
        </p:nvSpPr>
        <p:spPr>
          <a:xfrm>
            <a:off x="11198313" y="18812847"/>
            <a:ext cx="757704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3D surface plot is a visualization tool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 abrupt fluctuations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Process tolerance is high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Low prediction error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Minimal risk of over-processing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Model is stable and well-behaved</a:t>
            </a: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83" name="TextBox 2082"/>
          <p:cNvSpPr txBox="1"/>
          <p:nvPr/>
        </p:nvSpPr>
        <p:spPr>
          <a:xfrm>
            <a:off x="8658714" y="21032672"/>
            <a:ext cx="3859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3D Surface Plot</a:t>
            </a: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86" name="TextBox 2085"/>
          <p:cNvSpPr txBox="1"/>
          <p:nvPr/>
        </p:nvSpPr>
        <p:spPr>
          <a:xfrm>
            <a:off x="631945" y="27600811"/>
            <a:ext cx="9956681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Pectin was successfully extracted from pomelo peel, demonstrating its potential as value added compound.</a:t>
            </a:r>
            <a:endParaRPr lang="en-IN" sz="2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coating exhibited reduced weight loss and improved shelf life especially under cold storage condition.</a:t>
            </a:r>
            <a:endParaRPr lang="en-IN" sz="2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study confirmed that pomelo peel pectin is a sustainable, biodegradable alternative to synthetic packaging</a:t>
            </a:r>
            <a:endParaRPr lang="en-IN" sz="2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91" name="TextBox 2090"/>
          <p:cNvSpPr txBox="1"/>
          <p:nvPr/>
        </p:nvSpPr>
        <p:spPr>
          <a:xfrm>
            <a:off x="4230581" y="26670706"/>
            <a:ext cx="2408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Reference graph from [2]</a:t>
            </a:r>
            <a:endParaRPr lang="en-IN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3549</Words>
  <Application>WPS Docs</Application>
  <PresentationFormat>Custom</PresentationFormat>
  <Paragraphs>126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Calibri</vt:lpstr>
      <vt:lpstr>Times New Roman</vt:lpstr>
      <vt:lpstr>MS PGothic</vt:lpstr>
      <vt:lpstr>苹方-简</vt:lpstr>
      <vt:lpstr>宋体-简</vt:lpstr>
      <vt:lpstr>Microsoft YaHei</vt:lpstr>
      <vt:lpstr>汉仪旗黑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BUS</dc:creator>
  <cp:lastModifiedBy>Bhadhra M Raj</cp:lastModifiedBy>
  <cp:revision>133</cp:revision>
  <cp:lastPrinted>2026-08-27T18:40:21Z</cp:lastPrinted>
  <dcterms:created xsi:type="dcterms:W3CDTF">2026-08-27T18:40:21Z</dcterms:created>
  <dcterms:modified xsi:type="dcterms:W3CDTF">2026-08-27T18:40:21Z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D34DFBBB17B208059584906A9FFB2A13_43</vt:lpwstr>
  </property>
  <property fmtid="{D5CDD505-2E9C-101B-9397-08002B2CF9AE}" pid="3" name="KSOProductBuildVer">
    <vt:lpwstr>1033-12.1.25880.25880</vt:lpwstr>
  </property>
</Properties>
</file>